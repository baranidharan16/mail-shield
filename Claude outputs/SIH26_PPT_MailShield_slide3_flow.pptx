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59" r:id="rId5"/>
    <p:sldId id="256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7CF512C-4421-451C-8AAD-51E7831F8C61}">
          <p14:sldIdLst>
            <p14:sldId id="291"/>
          </p14:sldIdLst>
        </p14:section>
        <p14:section name="Untitled Section" id="{CE982841-5C9E-43E6-929B-B07FCF67E96C}">
          <p14:sldIdLst>
            <p14:sldId id="281"/>
            <p14:sldId id="290"/>
            <p14:sldId id="259"/>
            <p14:sldId id="256"/>
            <p14:sldId id="296"/>
            <p14:sldId id="29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96D5"/>
    <a:srgbClr val="FFFFFF"/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066C75-371F-7D8C-3529-128623A6EA0D}" v="4" dt="2026-08-29T06:12:42.818"/>
    <p1510:client id="{E30416A4-1526-4DE4-9689-C124148AF326}" v="45" dt="2026-08-29T06:30:01.2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25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0T11:33:06.106"/>
    </inkml:context>
    <inkml:brush xml:id="br0">
      <inkml:brushProperty name="width" value="0.2" units="cm"/>
      <inkml:brushProperty name="height" value="0.4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1,'23776'0,"-13181"0,-10571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0T11:33:11.766"/>
    </inkml:context>
    <inkml:brush xml:id="br0">
      <inkml:brushProperty name="width" value="0.2" units="cm"/>
      <inkml:brushProperty name="height" value="0.4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0T12:50:34.153"/>
    </inkml:context>
    <inkml:brush xml:id="br0">
      <inkml:brushProperty name="width" value="0.2" units="cm"/>
      <inkml:brushProperty name="height" value="0.4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1,'23776'0,"-13181"0,-10571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20T14:57:16.111"/>
    </inkml:context>
    <inkml:brush xml:id="br0">
      <inkml:brushProperty name="width" value="0.2" units="cm"/>
      <inkml:brushProperty name="height" value="0.4" units="cm"/>
      <inkml:brushProperty name="color" value="#0069A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1,'23776'0,"-13181"0,-10571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5:23:47.174"/>
    </inkml:context>
    <inkml:brush xml:id="br0">
      <inkml:brushProperty name="width" value="0.1" units="cm"/>
      <inkml:brushProperty name="height" value="0.1" units="cm"/>
      <inkml:brushProperty name="color" value="#004F8B"/>
    </inkml:brush>
  </inkml:definitions>
  <inkml:trace contextRef="#ctx0" brushRef="#br0">1 6 8192,'80'-1'13297,"-1"0"-8000,264 4-5869,-245 6 572,104 23 0,-91-13 0,-102-17-12,0 0 0,1 0 0,-2 1 0,1 0 0,0 1 0,-1 0 0,1 0 0,-1 0 0,0 1 0,-1 1 0,1-1 0,-1 1 0,0 1 0,9 10 0,-12-13 19,-1 1 0,0 0 0,0-1 0,-1 1 0,1 0 0,-1 1-1,0-1 1,0 0 0,-1 0 0,0 1 0,0-1 0,0 1 0,0 0 0,-1-1 0,0 1 0,0-1-1,-1 1 1,1-1 0,-1 1 0,0-1 0,-1 1 0,1-1 0,-1 0 0,0 1 0,-4 6 0,-2-1-302,1 0 1,-2-1-1,1 0 1,-1 0 0,-1-1-1,0 0 1,-18 13-1,-13 11-320,18-13-1267,-1-2 1,-1 0 0,-49 26-1,-89 30-5643,153-70 7338,-2 0 0,1 0 0,0-1 0,-1 0 0,-17 1 0,26-4 419,-1 0 1,1 0 0,0 0 0,-1 0 0,1-1 0,0 0 0,0 1 0,-1-1 0,1 0 0,-4-3 0,-9-9 4923,5-8 3761,8 5-8549,0-1 0,0 0-1,2 0 1,0 0 0,1-1-1,1 1 1,3-19 0,-2 18-853,0-1 0,-2 1 0,0-1 1,-1 0-1,-6-33 0,-6 7 363,-10-44 3314,19 44-6926,9 2-8145,22 2 26950,-54 40-15123,-14 3-692,-88 7 488,67 4-2031,1 9-3870,40-11 4269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5:24:09.726"/>
    </inkml:context>
    <inkml:brush xml:id="br0">
      <inkml:brushProperty name="width" value="0.1" units="cm"/>
      <inkml:brushProperty name="height" value="0.1" units="cm"/>
      <inkml:brushProperty name="color" value="#00A0D7"/>
    </inkml:brush>
  </inkml:definitions>
  <inkml:trace contextRef="#ctx0" brushRef="#br0">1096 58 8192,'-19'9'10852,"1"-1"-5314,-18 9-2321,27-13-3820,1 1 0,-1 0 0,1 1-1,-11 9 1,0 6 2034,8-8-4016,4-4 1015,-1 1-1,1-1 1,1 2-1,-9 16 1,14-25 1702,0 1 0,0-1 1,0 1-1,1-1 0,-1 1 0,1-1 0,0 1 0,0-1 1,0 1-1,0 0 0,0 3 0,1-4 356,0 0 0,-1-1-1,1 1 1,0 0 0,0 0 0,0 0-1,0-1 1,0 1 0,0 0-1,0-1 1,1 1 0,-1-1-1,1 0 1,-1 1 0,1-1 0,2 2-1,5 2-839,0 0 0,0-1 0,1 0-1,-1 0 1,1-1 0,0 0 0,11 1 0,76 6-176,-84-9 163,385 12-8672,8-17 4038,-116 0 5283,-186 6-284,-38 0 0,79-8 0,-139 5-5,0 0 1,0-1 0,-1 1-1,1-1 1,-1-1 0,1 1-1,-1-1 1,0 0 0,9-6-1,-13 8 21,1 0 0,-1 0 0,1 0 0,-1-1 0,1 1-1,-1-1 1,0 1 0,0 0 0,1-1 0,-1 0 0,0 1-1,0-1 1,-1 0 0,1 1 0,0-1 0,0 0 0,-1 0-1,1 0 1,-1 0 0,0 0 0,0 0 0,1 0 0,-1 1-1,0-1 1,-1 0 0,1 0 0,0 0 0,-1 0 0,1 0 0,-1 0-1,1 0 1,-1 1 0,-1-4 0,0 3-17,0-1 0,0 1-1,-1 0 1,1-1 0,-1 1 0,1 0 0,-1 1-1,0-1 1,0 0 0,0 1 0,0-1 0,0 1-1,0 0 1,0 0 0,0 0 0,0 1 0,-1-1-1,-2 1 1,-13-2 424,-37 0 0,40 3 1055,-867 1-3126,-20 0 2159,301-2 7208,568-1-239,14-2-6316,19 3-1164,1 0 0,0 0 0,-1 0 0,1 0 0,-1 0 0,1 0 0,-1 0 0,1-1 0,0 1 0,-1 0 0,1 0 0,-1 0 0,1-1 0,0 1 0,-1 0 0,1 0 0,-1-1 0,1 1 0,0 0 0,0-1 0,-1 1 0,1 0 0,0-1 0,-1 1 0,1 0 0,0-1 0,0 1 0,0-1 0,0 1 0,-1-1 0,1 1 0,0 0 0,0-1 0,0 1 0,0-1 0,11-13 0,22-8 0,-10 12 0,1 0 0,0 2 0,48-11 0,-43 12 0,0-1 0,35-14 0,-50 16 0,1 2 0,-1 0 0,24-4 0,24-6 0,-58 12 0,0 1 0,0-1 0,0 0 0,-1-1 0,1 1 0,-1 0 0,1-1 0,-1 0 0,0 0 0,5-6 0,5-10 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167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E877B51-0621-4CDE-90EF-2FC0DB32715B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D898449-A6A9-4341-A640-DA9A8A10558A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8EB76D-6E17-4D98-8990-A879C541F5CA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1F0C30-A8BD-4AE3-95BA-BDD29A0C9F17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27A1D04-AE99-449E-BB37-A417B6D7F069}" type="datetime1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7D632DE-CFBF-43E5-A2B1-7CC57917F7CE}" type="datetime1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1E66CD4-8A05-4217-8F0C-E67539E6E395}" type="datetime1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08DC1D3-98F2-4539-ACDF-6EBCC5A013AF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85A4172-1F5E-487D-94C4-40778E2E42F4}" type="datetime1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59AA03E-3F37-43EB-BCBB-0D4E251DE1C9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2F5B9AF-3D5F-4570-B8FB-6DABACAD7A03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55C8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26160" y="1785443"/>
            <a:ext cx="5127413" cy="2051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33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33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8467">
              <a:lnSpc>
                <a:spcPts val="2093"/>
              </a:lnSpc>
            </a:pPr>
            <a:r>
              <a:rPr lang="en-IN"/>
              <a:t>@SIH Idea submission- Template</a:t>
            </a:r>
            <a:endParaRPr lang="en-IN" spc="-13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33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8467">
              <a:lnSpc>
                <a:spcPts val="2093"/>
              </a:lnSpc>
            </a:pPr>
            <a:fld id="{F01B60BF-974D-432E-9340-B6F1F6A8018D}" type="datetime1">
              <a:rPr lang="en-US" spc="-7" smtClean="0"/>
              <a:t>9/20/2026</a:t>
            </a:fld>
            <a:endParaRPr lang="en-IN" spc="-7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9211">
              <a:spcBef>
                <a:spcPts val="57"/>
              </a:spcBef>
            </a:pPr>
            <a:fld id="{81D60167-4931-47E6-BA6A-407CBD079E47}" type="slidenum">
              <a:rPr lang="en-IN" spc="-33" smtClean="0"/>
              <a:pPr marL="29211">
                <a:spcBef>
                  <a:spcPts val="57"/>
                </a:spcBef>
              </a:pPr>
              <a:t>‹#›</a:t>
            </a:fld>
            <a:endParaRPr lang="en-IN" spc="-33"/>
          </a:p>
        </p:txBody>
      </p:sp>
    </p:spTree>
    <p:extLst>
      <p:ext uri="{BB962C8B-B14F-4D97-AF65-F5344CB8AC3E}">
        <p14:creationId xmlns:p14="http://schemas.microsoft.com/office/powerpoint/2010/main" val="38243598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B807DA79-7DA1-4CC2-8704-DCE51475F3F3}" type="datetime1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https://drive.google.com/file/d/1q2sCTIr96EXAGBCpxGDuQOPO01VmBIF3/view?usp=drive_link" TargetMode="External"/><Relationship Id="rId6" Type="http://schemas.openxmlformats.org/officeDocument/2006/relationships/customXml" Target="../ink/ink1.xml"/><Relationship Id="rId7" Type="http://schemas.openxmlformats.org/officeDocument/2006/relationships/image" Target="../media/image4.png"/><Relationship Id="rId8" Type="http://schemas.openxmlformats.org/officeDocument/2006/relationships/customXml" Target="../ink/ink2.xml"/><Relationship Id="rId9" Type="http://schemas.openxmlformats.org/officeDocument/2006/relationships/image" Target="../media/image5.png"/><Relationship Id="rId10" Type="http://schemas.openxmlformats.org/officeDocument/2006/relationships/image" Target="../media/image6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customXml" Target="../ink/ink3.xml"/><Relationship Id="rId6" Type="http://schemas.openxmlformats.org/officeDocument/2006/relationships/image" Target="../media/image4.png"/><Relationship Id="rId7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customXml" Target="../ink/ink4.xml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ieeexplore.ieee.org/document/10585821/" TargetMode="External"/><Relationship Id="rId4" Type="http://schemas.openxmlformats.org/officeDocument/2006/relationships/hyperlink" Target="https://www.mdpi.com/2079-9292/12/1/42" TargetMode="External"/><Relationship Id="rId5" Type="http://schemas.openxmlformats.org/officeDocument/2006/relationships/hyperlink" Target="https://commons.erau.edu/jdfsl/vol6/iss2/5/" TargetMode="External"/><Relationship Id="rId6" Type="http://schemas.openxmlformats.org/officeDocument/2006/relationships/hyperlink" Target="https://research.tudelft.nl/en/publications/enhanced-phishing-detection-using-multimodal-data/" TargetMode="External"/><Relationship Id="rId7" Type="http://schemas.openxmlformats.org/officeDocument/2006/relationships/hyperlink" Target="https://nvlpubs.nist.gov/nistpubs/legacy/sp/nistspecialpublication800-86.pdf" TargetMode="External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customXml" Target="../ink/ink5.xml"/><Relationship Id="rId4" Type="http://schemas.openxmlformats.org/officeDocument/2006/relationships/image" Target="../media/image90.png"/><Relationship Id="rId5" Type="http://schemas.openxmlformats.org/officeDocument/2006/relationships/customXml" Target="../ink/ink6.xml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9944" y="777333"/>
            <a:ext cx="5764714" cy="6001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3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26106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 AI-Powered Email Threat Detection, GeoLocation and Forensic Intelligence Platform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Blockchain &amp; Cybersecurity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ID- RMKSIH26SW148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- RAVENFORGE</a:t>
            </a:r>
            <a:endParaRPr lang="en-IN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D9B5FD-81FC-3ADD-30C0-CC6CB7EC9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9" y="69150"/>
            <a:ext cx="1281566" cy="85437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32034" y="259951"/>
            <a:ext cx="7934632" cy="673738"/>
          </a:xfrm>
          <a:custGeom>
            <a:avLst/>
            <a:gdLst>
              <a:gd name="csX0" fmla="*/ 0 w 7934632"/>
              <a:gd name="csY0" fmla="*/ 0 h 673738"/>
              <a:gd name="csX1" fmla="*/ 7934632 w 7934632"/>
              <a:gd name="csY1" fmla="*/ 0 h 673738"/>
              <a:gd name="csX2" fmla="*/ 7934632 w 7934632"/>
              <a:gd name="csY2" fmla="*/ 673738 h 673738"/>
              <a:gd name="csX3" fmla="*/ 0 w 7934632"/>
              <a:gd name="csY3" fmla="*/ 673738 h 673738"/>
              <a:gd name="csX4" fmla="*/ 0 w 7934632"/>
              <a:gd name="csY4" fmla="*/ 0 h 6737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934632" h="673738" extrusionOk="0">
                <a:moveTo>
                  <a:pt x="0" y="0"/>
                </a:moveTo>
                <a:cubicBezTo>
                  <a:pt x="1952469" y="-5264"/>
                  <a:pt x="5061423" y="84467"/>
                  <a:pt x="7934632" y="0"/>
                </a:cubicBezTo>
                <a:cubicBezTo>
                  <a:pt x="7966787" y="206295"/>
                  <a:pt x="7882445" y="363052"/>
                  <a:pt x="7934632" y="673738"/>
                </a:cubicBezTo>
                <a:cubicBezTo>
                  <a:pt x="4720991" y="780058"/>
                  <a:pt x="2758054" y="666089"/>
                  <a:pt x="0" y="673738"/>
                </a:cubicBezTo>
                <a:cubicBezTo>
                  <a:pt x="4582" y="484990"/>
                  <a:pt x="-23712" y="183013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2650216993">
                  <ask:type>
                    <ask:lineSketchCurved/>
                  </ask:type>
                </ask:lineSketchStyleProps>
              </a:ext>
            </a:extLst>
          </a:ln>
        </p:spPr>
        <p:txBody>
          <a:bodyPr/>
          <a:lstStyle/>
          <a:p>
            <a:pPr eaLnBrk="1" hangingPunct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MailShield: AI-Powered Email Threat Detection, GeoLocation and Forensic Intelligence Platform</a:t>
            </a:r>
            <a:endParaRPr lang="en-US" sz="1800" b="1" i="1" dirty="0"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155ED72-10B4-FE92-C830-CDF005028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9" y="69150"/>
            <a:ext cx="1281566" cy="854378"/>
          </a:xfrm>
          <a:prstGeom prst="rect">
            <a:avLst/>
          </a:prstGeom>
        </p:spPr>
      </p:pic>
      <p:grpSp>
        <p:nvGrpSpPr>
          <p:cNvPr id="3" name="object 3">
            <a:extLst>
              <a:ext uri="{FF2B5EF4-FFF2-40B4-BE49-F238E27FC236}">
                <a16:creationId xmlns:a16="http://schemas.microsoft.com/office/drawing/2014/main" id="{9A21FE3C-B954-5A6B-493B-681B2FB5D2DA}"/>
              </a:ext>
            </a:extLst>
          </p:cNvPr>
          <p:cNvGrpSpPr/>
          <p:nvPr/>
        </p:nvGrpSpPr>
        <p:grpSpPr>
          <a:xfrm>
            <a:off x="0" y="6354760"/>
            <a:ext cx="12192000" cy="503343"/>
            <a:chOff x="0" y="9532139"/>
            <a:chExt cx="18288000" cy="755015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896A51DE-746E-9DA5-C2E9-69B076BCD1A3}"/>
                </a:ext>
              </a:extLst>
            </p:cNvPr>
            <p:cNvSpPr/>
            <p:nvPr/>
          </p:nvSpPr>
          <p:spPr>
            <a:xfrm>
              <a:off x="0" y="9532139"/>
              <a:ext cx="18288000" cy="755015"/>
            </a:xfrm>
            <a:custGeom>
              <a:avLst/>
              <a:gdLst/>
              <a:ahLst/>
              <a:cxnLst/>
              <a:rect l="l" t="t" r="r" b="b"/>
              <a:pathLst>
                <a:path w="18288000" h="755015">
                  <a:moveTo>
                    <a:pt x="18287418" y="754860"/>
                  </a:moveTo>
                  <a:lnTo>
                    <a:pt x="0" y="754860"/>
                  </a:lnTo>
                  <a:lnTo>
                    <a:pt x="0" y="0"/>
                  </a:lnTo>
                  <a:lnTo>
                    <a:pt x="18287418" y="0"/>
                  </a:lnTo>
                  <a:lnTo>
                    <a:pt x="18287418" y="754860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r>
                <a:rPr lang="en-IN" dirty="0"/>
                <a:t>				</a:t>
              </a:r>
              <a:endParaRPr dirty="0"/>
            </a:p>
          </p:txBody>
        </p:sp>
        <p:sp>
          <p:nvSpPr>
            <p:cNvPr id="10" name="object 5">
              <a:extLst>
                <a:ext uri="{FF2B5EF4-FFF2-40B4-BE49-F238E27FC236}">
                  <a16:creationId xmlns:a16="http://schemas.microsoft.com/office/drawing/2014/main" id="{2CAA1358-8B20-5B00-B013-F4B60A3C5E32}"/>
                </a:ext>
              </a:extLst>
            </p:cNvPr>
            <p:cNvSpPr/>
            <p:nvPr/>
          </p:nvSpPr>
          <p:spPr>
            <a:xfrm>
              <a:off x="4582359" y="9670805"/>
              <a:ext cx="11837036" cy="407670"/>
            </a:xfrm>
            <a:custGeom>
              <a:avLst/>
              <a:gdLst/>
              <a:ahLst/>
              <a:cxnLst/>
              <a:rect l="l" t="t" r="r" b="b"/>
              <a:pathLst>
                <a:path w="11837035" h="407670">
                  <a:moveTo>
                    <a:pt x="1743824" y="0"/>
                  </a:moveTo>
                  <a:lnTo>
                    <a:pt x="0" y="0"/>
                  </a:lnTo>
                  <a:lnTo>
                    <a:pt x="0" y="396354"/>
                  </a:lnTo>
                  <a:lnTo>
                    <a:pt x="1743824" y="396354"/>
                  </a:lnTo>
                  <a:lnTo>
                    <a:pt x="1743824" y="0"/>
                  </a:lnTo>
                  <a:close/>
                </a:path>
                <a:path w="11837035" h="407670">
                  <a:moveTo>
                    <a:pt x="6277927" y="11303"/>
                  </a:moveTo>
                  <a:lnTo>
                    <a:pt x="4534230" y="11303"/>
                  </a:lnTo>
                  <a:lnTo>
                    <a:pt x="4534230" y="407657"/>
                  </a:lnTo>
                  <a:lnTo>
                    <a:pt x="6277927" y="407657"/>
                  </a:lnTo>
                  <a:lnTo>
                    <a:pt x="6277927" y="11303"/>
                  </a:lnTo>
                  <a:close/>
                </a:path>
                <a:path w="11837035" h="407670">
                  <a:moveTo>
                    <a:pt x="11836654" y="11303"/>
                  </a:moveTo>
                  <a:lnTo>
                    <a:pt x="10092842" y="11303"/>
                  </a:lnTo>
                  <a:lnTo>
                    <a:pt x="10092842" y="407657"/>
                  </a:lnTo>
                  <a:lnTo>
                    <a:pt x="11836654" y="407657"/>
                  </a:lnTo>
                  <a:lnTo>
                    <a:pt x="11836654" y="113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r>
                <a:rPr lang="en-IN">
                  <a:hlinkClick r:id="rId5"/>
                </a:rPr>
                <a:t> CLICK HERE</a:t>
              </a:r>
              <a:endParaRPr/>
            </a:p>
          </p:txBody>
        </p:sp>
        <p:sp>
          <p:nvSpPr>
            <p:cNvPr id="12" name="object 6">
              <a:extLst>
                <a:ext uri="{FF2B5EF4-FFF2-40B4-BE49-F238E27FC236}">
                  <a16:creationId xmlns:a16="http://schemas.microsoft.com/office/drawing/2014/main" id="{5936C5F3-4FB8-716F-FC77-ABB223F086CE}"/>
                </a:ext>
              </a:extLst>
            </p:cNvPr>
            <p:cNvSpPr/>
            <p:nvPr/>
          </p:nvSpPr>
          <p:spPr>
            <a:xfrm>
              <a:off x="4751522" y="9990603"/>
              <a:ext cx="1193165" cy="19050"/>
            </a:xfrm>
            <a:custGeom>
              <a:avLst/>
              <a:gdLst/>
              <a:ahLst/>
              <a:cxnLst/>
              <a:rect l="l" t="t" r="r" b="b"/>
              <a:pathLst>
                <a:path w="1193164" h="19050">
                  <a:moveTo>
                    <a:pt x="1193152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193152" y="0"/>
                  </a:lnTo>
                  <a:lnTo>
                    <a:pt x="1193152" y="19049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02EAF4C-AA08-16B0-4EA9-F3547406E0ED}"/>
              </a:ext>
            </a:extLst>
          </p:cNvPr>
          <p:cNvSpPr txBox="1"/>
          <p:nvPr/>
        </p:nvSpPr>
        <p:spPr>
          <a:xfrm>
            <a:off x="1806218" y="6373556"/>
            <a:ext cx="1503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bg1"/>
                </a:solidFill>
              </a:rPr>
              <a:t>DEMO LINK: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EB5A82E-CDBC-E32D-FEE0-537588E58978}"/>
                  </a:ext>
                </a:extLst>
              </p14:cNvPr>
              <p14:cNvContentPartPr/>
              <p14:nvPr/>
            </p14:nvContentPartPr>
            <p14:xfrm>
              <a:off x="-10240" y="1178800"/>
              <a:ext cx="12382200" cy="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EB5A82E-CDBC-E32D-FEE0-537588E5897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46240" y="1107160"/>
                <a:ext cx="1245384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AFB4BB5-E17D-93A1-C4E7-E454DD922E8E}"/>
                  </a:ext>
                </a:extLst>
              </p14:cNvPr>
              <p14:cNvContentPartPr/>
              <p14:nvPr/>
            </p14:nvContentPartPr>
            <p14:xfrm>
              <a:off x="12455840" y="1676680"/>
              <a:ext cx="36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AFB4BB5-E17D-93A1-C4E7-E454DD922E8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420200" y="1604680"/>
                <a:ext cx="72000" cy="144000"/>
              </a:xfrm>
              <a:prstGeom prst="rect">
                <a:avLst/>
              </a:prstGeom>
            </p:spPr>
          </p:pic>
        </mc:Fallback>
      </mc:AlternateContent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C9B3574-D0B1-E776-DF2B-99A547C4219A}"/>
              </a:ext>
            </a:extLst>
          </p:cNvPr>
          <p:cNvSpPr/>
          <p:nvPr/>
        </p:nvSpPr>
        <p:spPr>
          <a:xfrm>
            <a:off x="90009" y="1354625"/>
            <a:ext cx="5832190" cy="1672590"/>
          </a:xfrm>
          <a:prstGeom prst="round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75000"/>
                </a:schemeClr>
              </a:gs>
              <a:gs pos="47000">
                <a:schemeClr val="bg1">
                  <a:lumMod val="85000"/>
                </a:schemeClr>
              </a:gs>
            </a:gsLst>
          </a:gradFill>
          <a:effectLst>
            <a:outerShdw blurRad="76200" dist="38100" dir="5400000" sx="102000" sy="102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3B3EB34-BA2A-7857-7A44-032C302A4439}"/>
              </a:ext>
            </a:extLst>
          </p:cNvPr>
          <p:cNvSpPr/>
          <p:nvPr/>
        </p:nvSpPr>
        <p:spPr>
          <a:xfrm>
            <a:off x="6180860" y="1354625"/>
            <a:ext cx="5832190" cy="1671511"/>
          </a:xfrm>
          <a:prstGeom prst="round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75000"/>
                </a:schemeClr>
              </a:gs>
              <a:gs pos="47000">
                <a:schemeClr val="bg1">
                  <a:lumMod val="85000"/>
                </a:schemeClr>
              </a:gs>
            </a:gsLst>
          </a:gradFill>
          <a:effectLst>
            <a:outerShdw blurRad="76200" dist="38100" dir="5400000" sx="102000" sy="102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602DCF-541C-8EEB-1320-E9785F255C04}"/>
              </a:ext>
            </a:extLst>
          </p:cNvPr>
          <p:cNvSpPr txBox="1"/>
          <p:nvPr/>
        </p:nvSpPr>
        <p:spPr>
          <a:xfrm>
            <a:off x="178950" y="1434432"/>
            <a:ext cx="22228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610E524-A695-5BDE-4A5B-0C2DE5BB29E1}"/>
              </a:ext>
            </a:extLst>
          </p:cNvPr>
          <p:cNvSpPr txBox="1"/>
          <p:nvPr/>
        </p:nvSpPr>
        <p:spPr>
          <a:xfrm>
            <a:off x="6254630" y="1424271"/>
            <a:ext cx="10707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idea: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572A18-1156-FE20-A4C9-A1EA62EDC5CC}"/>
              </a:ext>
            </a:extLst>
          </p:cNvPr>
          <p:cNvSpPr txBox="1"/>
          <p:nvPr/>
        </p:nvSpPr>
        <p:spPr>
          <a:xfrm>
            <a:off x="396412" y="1689467"/>
            <a:ext cx="5542538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5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Phishing, spam and AI-generated/deepfake content are increasingly difficult to distinguish from genuine communication, creating risks of fraud, identity abuse and cyberattacks.</a:t>
            </a:r>
            <a:endParaRPr lang="en-IN" sz="135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5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often detect only individual threats and provide limited explanation, forensic evidence and privacy-preserving AI analysis.</a:t>
            </a:r>
            <a:endParaRPr lang="en-IN" sz="135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49F4CC-B4B8-0D7E-E0B1-5C5CB345E425}"/>
              </a:ext>
            </a:extLst>
          </p:cNvPr>
          <p:cNvSpPr txBox="1"/>
          <p:nvPr/>
        </p:nvSpPr>
        <p:spPr>
          <a:xfrm>
            <a:off x="6502350" y="1694547"/>
            <a:ext cx="5293238" cy="1481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9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MailShield is an AI-powered communication security platform that combines email threat detection, deepfake-audio detection and automated digital forensics in one system.</a:t>
            </a:r>
            <a:endParaRPr lang="en-IN" sz="129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9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ML/NLP and a privately deployed fine-tuned LLM to analyse suspicious content, explain the threat and generate actionable forensic insights without sending sensitive data to external AI services.</a:t>
            </a:r>
            <a:endParaRPr lang="en-IN" sz="129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29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1C6F8822-AD4F-85B5-9351-FE21680343AF}"/>
              </a:ext>
            </a:extLst>
          </p:cNvPr>
          <p:cNvGrpSpPr/>
          <p:nvPr/>
        </p:nvGrpSpPr>
        <p:grpSpPr>
          <a:xfrm>
            <a:off x="178950" y="3200187"/>
            <a:ext cx="4137411" cy="2909102"/>
            <a:chOff x="178950" y="3200187"/>
            <a:chExt cx="4235734" cy="2909102"/>
          </a:xfrm>
          <a:effectLst>
            <a:outerShdw blurRad="50800" dist="38100" dir="10800000" sx="102000" sy="102000" algn="r" rotWithShape="0">
              <a:prstClr val="black">
                <a:alpha val="24000"/>
              </a:prstClr>
            </a:outerShdw>
          </a:effectLst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9EF060E-01CA-48DD-892F-F2284882B4B6}"/>
                </a:ext>
              </a:extLst>
            </p:cNvPr>
            <p:cNvSpPr/>
            <p:nvPr/>
          </p:nvSpPr>
          <p:spPr>
            <a:xfrm>
              <a:off x="178950" y="3202680"/>
              <a:ext cx="4235734" cy="29066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C677A8F-6995-13B5-DCAA-79B78C8D4C15}"/>
                </a:ext>
              </a:extLst>
            </p:cNvPr>
            <p:cNvSpPr/>
            <p:nvPr/>
          </p:nvSpPr>
          <p:spPr>
            <a:xfrm>
              <a:off x="178950" y="3200187"/>
              <a:ext cx="4225902" cy="397056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3697CF0-1C28-2C37-0EBB-D8EEDC6E47E4}"/>
              </a:ext>
            </a:extLst>
          </p:cNvPr>
          <p:cNvGrpSpPr/>
          <p:nvPr/>
        </p:nvGrpSpPr>
        <p:grpSpPr>
          <a:xfrm>
            <a:off x="7826478" y="3187864"/>
            <a:ext cx="4235734" cy="2909103"/>
            <a:chOff x="178950" y="3200186"/>
            <a:chExt cx="4235734" cy="2909103"/>
          </a:xfrm>
          <a:effectLst>
            <a:outerShdw blurRad="203200" dist="38100" sx="104000" sy="104000" algn="l" rotWithShape="0">
              <a:prstClr val="black">
                <a:alpha val="24000"/>
              </a:prstClr>
            </a:outerShdw>
          </a:effectLst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41A2BBE-5FC2-2637-1AB0-607306299B5B}"/>
                </a:ext>
              </a:extLst>
            </p:cNvPr>
            <p:cNvSpPr/>
            <p:nvPr/>
          </p:nvSpPr>
          <p:spPr>
            <a:xfrm>
              <a:off x="178950" y="3202680"/>
              <a:ext cx="4235734" cy="290660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0179D538-E0AF-6026-01A6-41D8A344B3EE}"/>
                </a:ext>
              </a:extLst>
            </p:cNvPr>
            <p:cNvSpPr/>
            <p:nvPr/>
          </p:nvSpPr>
          <p:spPr>
            <a:xfrm>
              <a:off x="178950" y="3200186"/>
              <a:ext cx="4225902" cy="40901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E2649662-3A62-F372-7E2A-AF0BE12B5158}"/>
              </a:ext>
            </a:extLst>
          </p:cNvPr>
          <p:cNvSpPr txBox="1"/>
          <p:nvPr/>
        </p:nvSpPr>
        <p:spPr>
          <a:xfrm>
            <a:off x="1182182" y="3241031"/>
            <a:ext cx="222282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ABB4E76-D961-2F9C-EDB5-0F4E29723547}"/>
              </a:ext>
            </a:extLst>
          </p:cNvPr>
          <p:cNvSpPr txBox="1"/>
          <p:nvPr/>
        </p:nvSpPr>
        <p:spPr>
          <a:xfrm>
            <a:off x="8630595" y="3241032"/>
            <a:ext cx="25936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Uniqueness:</a:t>
            </a:r>
            <a:endParaRPr lang="en-IN" sz="15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812E50-24A8-E911-2455-A748CDD8C2FB}"/>
              </a:ext>
            </a:extLst>
          </p:cNvPr>
          <p:cNvSpPr txBox="1"/>
          <p:nvPr/>
        </p:nvSpPr>
        <p:spPr>
          <a:xfrm>
            <a:off x="7796982" y="3584441"/>
            <a:ext cx="422590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Unified Email + Audio Threat Detection: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conventional email threats alongside </a:t>
            </a:r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AI-generated/deepfake audio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rather than treating them as separate security problems.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Fine-Tuned AI: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LoRA fine-tuned Qwen LLM running locally through Ollama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AI-assisted analysis while sensitive communication data can remain on the user's system.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AI-Assisted Digital Forensics: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Goes beyond "spam/not spam" by combining </a:t>
            </a:r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extraction, threat reasoning and automated forensic report generation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Multi-Stage AI Security Pipeline: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</a:t>
            </a:r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→ NLP → Deepfake Detection → Local LLM → Forensics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providing layered analysis instead of depending on a single model.</a:t>
            </a:r>
          </a:p>
          <a:p>
            <a:endParaRPr lang="en-IN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016E4CB-173B-55E4-9EC8-981527809B5E}"/>
              </a:ext>
            </a:extLst>
          </p:cNvPr>
          <p:cNvSpPr txBox="1"/>
          <p:nvPr/>
        </p:nvSpPr>
        <p:spPr>
          <a:xfrm>
            <a:off x="198614" y="3597038"/>
            <a:ext cx="422590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Multi-layer analysis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Evaluates inbound emails through sender authentication records, textual semantics via NLP, and structural metadata—to identify sophisticated spear-phishing and spoofing attempts.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classification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Each email receives an intuitive rating—Safe, Suspicious, or Dangerous—backed by clear, simple explanations so users know exactly what is wrong.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 &amp; attachment inspection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All embedded URLs and files are tested in an isolated sandbox and cross-checked with live threat databases before reaching the user</a:t>
            </a:r>
            <a:r>
              <a:rPr lang="en-IN" sz="1200" dirty="0"/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alerts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Delivers proactive, in-line security banners and contextual guidance directly within the inbox, preventing user interaction with malicious payloads prior to engagement.</a:t>
            </a:r>
            <a:endParaRPr lang="en-IN" sz="1200" i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B6A94BCC-E935-1A6D-406C-59FF4E0CD3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95132" y="3816804"/>
            <a:ext cx="3362635" cy="2035432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-59469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EF68A1-5D15-315F-CEDB-AED5F429D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9" y="69150"/>
            <a:ext cx="1281566" cy="854378"/>
          </a:xfrm>
          <a:prstGeom prst="rect">
            <a:avLst/>
          </a:prstGeom>
        </p:spPr>
      </p:pic>
      <p:grpSp>
        <p:nvGrpSpPr>
          <p:cNvPr id="2" name="object 3">
            <a:extLst>
              <a:ext uri="{FF2B5EF4-FFF2-40B4-BE49-F238E27FC236}">
                <a16:creationId xmlns:a16="http://schemas.microsoft.com/office/drawing/2014/main" id="{ECF3F8AC-933D-EF93-04AF-E7E180B7FC1C}"/>
              </a:ext>
            </a:extLst>
          </p:cNvPr>
          <p:cNvGrpSpPr/>
          <p:nvPr/>
        </p:nvGrpSpPr>
        <p:grpSpPr>
          <a:xfrm>
            <a:off x="0" y="6354760"/>
            <a:ext cx="12192000" cy="503343"/>
            <a:chOff x="0" y="9532139"/>
            <a:chExt cx="18288000" cy="755015"/>
          </a:xfrm>
        </p:grpSpPr>
        <p:sp>
          <p:nvSpPr>
            <p:cNvPr id="5" name="object 4">
              <a:extLst>
                <a:ext uri="{FF2B5EF4-FFF2-40B4-BE49-F238E27FC236}">
                  <a16:creationId xmlns:a16="http://schemas.microsoft.com/office/drawing/2014/main" id="{351EC96F-05B9-60E0-416B-91025A5521CC}"/>
                </a:ext>
              </a:extLst>
            </p:cNvPr>
            <p:cNvSpPr/>
            <p:nvPr/>
          </p:nvSpPr>
          <p:spPr>
            <a:xfrm>
              <a:off x="0" y="9532139"/>
              <a:ext cx="18288000" cy="755015"/>
            </a:xfrm>
            <a:custGeom>
              <a:avLst/>
              <a:gdLst/>
              <a:ahLst/>
              <a:cxnLst/>
              <a:rect l="l" t="t" r="r" b="b"/>
              <a:pathLst>
                <a:path w="18288000" h="755015">
                  <a:moveTo>
                    <a:pt x="18287418" y="754860"/>
                  </a:moveTo>
                  <a:lnTo>
                    <a:pt x="0" y="754860"/>
                  </a:lnTo>
                  <a:lnTo>
                    <a:pt x="0" y="0"/>
                  </a:lnTo>
                  <a:lnTo>
                    <a:pt x="18287418" y="0"/>
                  </a:lnTo>
                  <a:lnTo>
                    <a:pt x="18287418" y="754860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CBABEDA9-17F0-D83E-4507-521EC485BA63}"/>
                </a:ext>
              </a:extLst>
            </p:cNvPr>
            <p:cNvSpPr/>
            <p:nvPr/>
          </p:nvSpPr>
          <p:spPr>
            <a:xfrm>
              <a:off x="4582359" y="9670805"/>
              <a:ext cx="11837036" cy="407670"/>
            </a:xfrm>
            <a:custGeom>
              <a:avLst/>
              <a:gdLst/>
              <a:ahLst/>
              <a:cxnLst/>
              <a:rect l="l" t="t" r="r" b="b"/>
              <a:pathLst>
                <a:path w="11837035" h="407670">
                  <a:moveTo>
                    <a:pt x="1743824" y="0"/>
                  </a:moveTo>
                  <a:lnTo>
                    <a:pt x="0" y="0"/>
                  </a:lnTo>
                  <a:lnTo>
                    <a:pt x="0" y="396354"/>
                  </a:lnTo>
                  <a:lnTo>
                    <a:pt x="1743824" y="396354"/>
                  </a:lnTo>
                  <a:lnTo>
                    <a:pt x="1743824" y="0"/>
                  </a:lnTo>
                  <a:close/>
                </a:path>
                <a:path w="11837035" h="407670">
                  <a:moveTo>
                    <a:pt x="6277927" y="11303"/>
                  </a:moveTo>
                  <a:lnTo>
                    <a:pt x="4534230" y="11303"/>
                  </a:lnTo>
                  <a:lnTo>
                    <a:pt x="4534230" y="407657"/>
                  </a:lnTo>
                  <a:lnTo>
                    <a:pt x="6277927" y="407657"/>
                  </a:lnTo>
                  <a:lnTo>
                    <a:pt x="6277927" y="11303"/>
                  </a:lnTo>
                  <a:close/>
                </a:path>
                <a:path w="11837035" h="407670">
                  <a:moveTo>
                    <a:pt x="11836654" y="11303"/>
                  </a:moveTo>
                  <a:lnTo>
                    <a:pt x="10092842" y="11303"/>
                  </a:lnTo>
                  <a:lnTo>
                    <a:pt x="10092842" y="407657"/>
                  </a:lnTo>
                  <a:lnTo>
                    <a:pt x="11836654" y="407657"/>
                  </a:lnTo>
                  <a:lnTo>
                    <a:pt x="11836654" y="113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8D7FDB02-BB40-5052-3D93-E16032AF379A}"/>
                </a:ext>
              </a:extLst>
            </p:cNvPr>
            <p:cNvSpPr/>
            <p:nvPr/>
          </p:nvSpPr>
          <p:spPr>
            <a:xfrm>
              <a:off x="4751522" y="9990603"/>
              <a:ext cx="1193165" cy="19050"/>
            </a:xfrm>
            <a:custGeom>
              <a:avLst/>
              <a:gdLst/>
              <a:ahLst/>
              <a:cxnLst/>
              <a:rect l="l" t="t" r="r" b="b"/>
              <a:pathLst>
                <a:path w="1193164" h="19050">
                  <a:moveTo>
                    <a:pt x="1193152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193152" y="0"/>
                  </a:lnTo>
                  <a:lnTo>
                    <a:pt x="1193152" y="19049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8A462E7-AE2B-70CA-0D84-86B142A34032}"/>
              </a:ext>
            </a:extLst>
          </p:cNvPr>
          <p:cNvSpPr txBox="1"/>
          <p:nvPr/>
        </p:nvSpPr>
        <p:spPr>
          <a:xfrm>
            <a:off x="2980189" y="3288029"/>
            <a:ext cx="622882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467">
              <a:lnSpc>
                <a:spcPts val="2093"/>
              </a:lnSpc>
            </a:pPr>
            <a:r>
              <a:rPr lang="en-IN" sz="1833" b="1">
                <a:solidFill>
                  <a:srgbClr val="FFFFFF"/>
                </a:solidFill>
                <a:latin typeface="Arial"/>
                <a:cs typeface="Arial"/>
              </a:rPr>
              <a:t>Website</a:t>
            </a:r>
            <a:r>
              <a:rPr lang="en-IN" sz="1833" b="1" spc="-43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N" sz="1833" b="1" spc="-7">
                <a:solidFill>
                  <a:srgbClr val="FFFFFF"/>
                </a:solidFill>
                <a:latin typeface="Arial"/>
                <a:cs typeface="Arial"/>
              </a:rPr>
              <a:t>link:</a:t>
            </a:r>
            <a:endParaRPr lang="en-IN" sz="1833">
              <a:latin typeface="Arial"/>
              <a:cs typeface="Arial"/>
            </a:endParaRPr>
          </a:p>
          <a:p>
            <a:pPr marL="8467">
              <a:lnSpc>
                <a:spcPts val="2093"/>
              </a:lnSpc>
            </a:pPr>
            <a:r>
              <a:rPr lang="en-IN" sz="1833" b="1">
                <a:solidFill>
                  <a:srgbClr val="FFFFFF"/>
                </a:solidFill>
                <a:latin typeface="Arial"/>
                <a:cs typeface="Arial"/>
              </a:rPr>
              <a:t>Website</a:t>
            </a:r>
            <a:r>
              <a:rPr lang="en-IN" sz="1833" b="1" spc="-43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IN" sz="1833" b="1" spc="-7">
                <a:solidFill>
                  <a:srgbClr val="FFFFFF"/>
                </a:solidFill>
                <a:latin typeface="Arial"/>
                <a:cs typeface="Arial"/>
              </a:rPr>
              <a:t>link:</a:t>
            </a:r>
            <a:endParaRPr lang="en-IN" sz="1833">
              <a:latin typeface="Arial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136868-FE6D-204F-74D5-B97F2B72F3CE}"/>
              </a:ext>
            </a:extLst>
          </p:cNvPr>
          <p:cNvSpPr txBox="1"/>
          <p:nvPr/>
        </p:nvSpPr>
        <p:spPr>
          <a:xfrm>
            <a:off x="1806218" y="6373556"/>
            <a:ext cx="1503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DEMO LINK: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AD9D215-90F0-D5DE-B72E-3F6DA33D7E7D}"/>
                  </a:ext>
                </a:extLst>
              </p14:cNvPr>
              <p14:cNvContentPartPr/>
              <p14:nvPr/>
            </p14:nvContentPartPr>
            <p14:xfrm>
              <a:off x="-10240" y="1178800"/>
              <a:ext cx="1238220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AD9D215-90F0-D5DE-B72E-3F6DA33D7E7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6240" y="1107160"/>
                <a:ext cx="12453840" cy="14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Group 20">
            <a:extLst>
              <a:ext uri="{FF2B5EF4-FFF2-40B4-BE49-F238E27FC236}">
                <a16:creationId xmlns:a16="http://schemas.microsoft.com/office/drawing/2014/main" id="{34B79AAE-1BEF-2F50-7A40-6951B833C5A7}"/>
              </a:ext>
            </a:extLst>
          </p:cNvPr>
          <p:cNvGrpSpPr/>
          <p:nvPr/>
        </p:nvGrpSpPr>
        <p:grpSpPr>
          <a:xfrm>
            <a:off x="148867" y="1295771"/>
            <a:ext cx="4240253" cy="5447118"/>
            <a:chOff x="148867" y="1392359"/>
            <a:chExt cx="4240253" cy="534899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7107E37-A546-B118-4F35-0D1465E514DA}"/>
                </a:ext>
              </a:extLst>
            </p:cNvPr>
            <p:cNvSpPr/>
            <p:nvPr/>
          </p:nvSpPr>
          <p:spPr>
            <a:xfrm>
              <a:off x="148868" y="1392359"/>
              <a:ext cx="4240252" cy="4838222"/>
            </a:xfrm>
            <a:prstGeom prst="rect">
              <a:avLst/>
            </a:prstGeom>
            <a:gradFill flip="none" rotWithShape="1">
              <a:gsLst>
                <a:gs pos="100000">
                  <a:srgbClr val="F496D5"/>
                </a:gs>
                <a:gs pos="0">
                  <a:schemeClr val="bg1"/>
                </a:gs>
              </a:gsLst>
              <a:lin ang="5400000" scaled="0"/>
              <a:tileRect/>
            </a:gra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D724AFA-5244-FCB1-8965-0F1865A07509}"/>
                </a:ext>
              </a:extLst>
            </p:cNvPr>
            <p:cNvSpPr txBox="1"/>
            <p:nvPr/>
          </p:nvSpPr>
          <p:spPr>
            <a:xfrm>
              <a:off x="148867" y="1663044"/>
              <a:ext cx="4240252" cy="5078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Frontend:</a:t>
              </a: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React-based web interface for secure login, Gmail connection, email analysis and forensic reports.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Backend:</a:t>
              </a: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Python + FastAPI</a:t>
              </a: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handles authentication, Gmail API communication, email processing and AI/ML inference.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Email Security:</a:t>
              </a: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Gmail API + Google OAuth 2.0</a:t>
              </a: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retrieves authorized emails and processes headers, metadata, content and links for threat analysis.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ML/NLP:</a:t>
              </a: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Machine-learning and NLP models analyse email patterns and content to identify </a:t>
              </a: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spam, phishing and suspicious behaviour</a:t>
              </a: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Deepfake Audio:</a:t>
              </a: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Hugging Face Transformers + PyTorch + Librosa</a:t>
              </a: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detect possible AI-generated audio using </a:t>
              </a: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 kHz preprocessing and 5-second audio chunks</a:t>
              </a: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Private AI:</a:t>
              </a: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 pretrained </a:t>
              </a: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Qwen 3B-class LLM</a:t>
              </a: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was fine-tuned using </a:t>
              </a: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LoRA + Unsloth</a:t>
              </a: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on </a:t>
              </a: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1,800 training and 150 validation samples</a:t>
              </a: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for AI-assisted analysis.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 Training:</a:t>
              </a: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Fine-tuning performed on </a:t>
              </a: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Google </a:t>
              </a:r>
              <a:r>
                <a:rPr lang="en-IN" sz="1200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Colab</a:t>
              </a: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with NVIDIA Tesla T4</a:t>
              </a: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using </a:t>
              </a: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epochs</a:t>
              </a: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 Inference:</a:t>
              </a: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Ollama</a:t>
              </a: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runs the fine-tuned model locally, keeping sensitive analysis within the local environment rather than sending it to a cloud LLM.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Database &amp; Deployment:</a:t>
              </a: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PostgreSQL</a:t>
              </a: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stores user-specific data and forensic reports; frontend/backend are deployed through </a:t>
              </a: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Vercel + Render</a:t>
              </a: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with </a:t>
              </a:r>
              <a:r>
                <a:rPr lang="en-IN" sz="12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ngrok</a:t>
              </a: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used for API tunnelling/testing. </a:t>
              </a:r>
            </a:p>
            <a:p>
              <a:b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endPara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7410" name="Technical flow diagram" descr="flo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3712" y="1243584"/>
            <a:ext cx="7498079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41364" y="57099"/>
            <a:ext cx="2209798" cy="842774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6354760"/>
            <a:ext cx="12192000" cy="503343"/>
            <a:chOff x="0" y="9532139"/>
            <a:chExt cx="18288000" cy="755015"/>
          </a:xfrm>
        </p:grpSpPr>
        <p:sp>
          <p:nvSpPr>
            <p:cNvPr id="4" name="object 4"/>
            <p:cNvSpPr/>
            <p:nvPr/>
          </p:nvSpPr>
          <p:spPr>
            <a:xfrm>
              <a:off x="0" y="9532139"/>
              <a:ext cx="18288000" cy="755015"/>
            </a:xfrm>
            <a:custGeom>
              <a:avLst/>
              <a:gdLst/>
              <a:ahLst/>
              <a:cxnLst/>
              <a:rect l="l" t="t" r="r" b="b"/>
              <a:pathLst>
                <a:path w="18288000" h="755015">
                  <a:moveTo>
                    <a:pt x="18287418" y="754860"/>
                  </a:moveTo>
                  <a:lnTo>
                    <a:pt x="0" y="754860"/>
                  </a:lnTo>
                  <a:lnTo>
                    <a:pt x="0" y="0"/>
                  </a:lnTo>
                  <a:lnTo>
                    <a:pt x="18287418" y="0"/>
                  </a:lnTo>
                  <a:lnTo>
                    <a:pt x="18287418" y="754860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82359" y="9670805"/>
              <a:ext cx="11837036" cy="407670"/>
            </a:xfrm>
            <a:custGeom>
              <a:avLst/>
              <a:gdLst/>
              <a:ahLst/>
              <a:cxnLst/>
              <a:rect l="l" t="t" r="r" b="b"/>
              <a:pathLst>
                <a:path w="11837035" h="407670">
                  <a:moveTo>
                    <a:pt x="1743824" y="0"/>
                  </a:moveTo>
                  <a:lnTo>
                    <a:pt x="0" y="0"/>
                  </a:lnTo>
                  <a:lnTo>
                    <a:pt x="0" y="396354"/>
                  </a:lnTo>
                  <a:lnTo>
                    <a:pt x="1743824" y="396354"/>
                  </a:lnTo>
                  <a:lnTo>
                    <a:pt x="1743824" y="0"/>
                  </a:lnTo>
                  <a:close/>
                </a:path>
                <a:path w="11837035" h="407670">
                  <a:moveTo>
                    <a:pt x="6277927" y="11303"/>
                  </a:moveTo>
                  <a:lnTo>
                    <a:pt x="4534230" y="11303"/>
                  </a:lnTo>
                  <a:lnTo>
                    <a:pt x="4534230" y="407657"/>
                  </a:lnTo>
                  <a:lnTo>
                    <a:pt x="6277927" y="407657"/>
                  </a:lnTo>
                  <a:lnTo>
                    <a:pt x="6277927" y="11303"/>
                  </a:lnTo>
                  <a:close/>
                </a:path>
                <a:path w="11837035" h="407670">
                  <a:moveTo>
                    <a:pt x="11836654" y="11303"/>
                  </a:moveTo>
                  <a:lnTo>
                    <a:pt x="10092842" y="11303"/>
                  </a:lnTo>
                  <a:lnTo>
                    <a:pt x="10092842" y="407657"/>
                  </a:lnTo>
                  <a:lnTo>
                    <a:pt x="11836654" y="407657"/>
                  </a:lnTo>
                  <a:lnTo>
                    <a:pt x="11836654" y="113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51522" y="9990603"/>
              <a:ext cx="1193165" cy="19050"/>
            </a:xfrm>
            <a:custGeom>
              <a:avLst/>
              <a:gdLst/>
              <a:ahLst/>
              <a:cxnLst/>
              <a:rect l="l" t="t" r="r" b="b"/>
              <a:pathLst>
                <a:path w="1193164" h="19050">
                  <a:moveTo>
                    <a:pt x="1193152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193152" y="0"/>
                  </a:lnTo>
                  <a:lnTo>
                    <a:pt x="1193152" y="19049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373590" y="153751"/>
            <a:ext cx="7315200" cy="562547"/>
          </a:xfrm>
          <a:prstGeom prst="rect">
            <a:avLst/>
          </a:prstGeom>
        </p:spPr>
        <p:txBody>
          <a:bodyPr vert="horz" wrap="square" lIns="0" tIns="846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16334">
              <a:spcBef>
                <a:spcPts val="67"/>
              </a:spcBef>
            </a:pPr>
            <a:r>
              <a:rPr>
                <a:solidFill>
                  <a:schemeClr val="tx1"/>
                </a:solidFill>
              </a:rPr>
              <a:t>FEASIBILITY</a:t>
            </a:r>
            <a:r>
              <a:rPr spc="13">
                <a:solidFill>
                  <a:schemeClr val="tx1"/>
                </a:solidFill>
              </a:rPr>
              <a:t> </a:t>
            </a:r>
            <a:r>
              <a:rPr spc="93">
                <a:solidFill>
                  <a:schemeClr val="tx1"/>
                </a:solidFill>
              </a:rPr>
              <a:t>AND</a:t>
            </a:r>
            <a:r>
              <a:rPr spc="13">
                <a:solidFill>
                  <a:schemeClr val="tx1"/>
                </a:solidFill>
              </a:rPr>
              <a:t> </a:t>
            </a:r>
            <a:r>
              <a:rPr spc="-7">
                <a:solidFill>
                  <a:schemeClr val="tx1"/>
                </a:solidFill>
              </a:rPr>
              <a:t>VIABILITY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1335164" y="4230858"/>
            <a:ext cx="393277" cy="213670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marL="8467">
              <a:spcBef>
                <a:spcPts val="67"/>
              </a:spcBef>
            </a:pPr>
            <a:endParaRPr sz="1333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230090" y="6461390"/>
            <a:ext cx="812377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67">
              <a:lnSpc>
                <a:spcPts val="1703"/>
              </a:lnSpc>
            </a:pPr>
            <a:endParaRPr sz="1467">
              <a:latin typeface="Arial MT"/>
              <a:cs typeface="Arial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156936" y="6467740"/>
            <a:ext cx="812377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67">
              <a:lnSpc>
                <a:spcPts val="1703"/>
              </a:lnSpc>
            </a:pPr>
            <a:endParaRPr sz="1467">
              <a:latin typeface="Arial MT"/>
              <a:cs typeface="Arial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917499" y="6474090"/>
            <a:ext cx="812377" cy="2180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467">
              <a:lnSpc>
                <a:spcPts val="1703"/>
              </a:lnSpc>
            </a:pPr>
            <a:endParaRPr sz="1467">
              <a:latin typeface="Arial MT"/>
              <a:cs typeface="Arial MT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xfrm>
            <a:off x="5825067" y="4247922"/>
            <a:ext cx="1896533" cy="222711"/>
          </a:xfrm>
          <a:prstGeom prst="rect">
            <a:avLst/>
          </a:prstGeom>
        </p:spPr>
        <p:txBody>
          <a:bodyPr vert="horz" wrap="square" lIns="0" tIns="7197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29211">
              <a:spcBef>
                <a:spcPts val="57"/>
              </a:spcBef>
            </a:pPr>
            <a:fld id="{81D60167-4931-47E6-BA6A-407CBD079E47}" type="slidenum">
              <a:rPr spc="-33" dirty="0"/>
              <a:pPr marL="29211">
                <a:spcBef>
                  <a:spcPts val="57"/>
                </a:spcBef>
              </a:pPr>
              <a:t>4</a:t>
            </a:fld>
            <a:endParaRPr spc="-33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7642730-98EE-3953-F399-427AFCB31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9" y="69150"/>
            <a:ext cx="1281566" cy="8543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860DFB-389E-7CF1-0CF3-BFB597B8E52B}"/>
              </a:ext>
            </a:extLst>
          </p:cNvPr>
          <p:cNvSpPr txBox="1"/>
          <p:nvPr/>
        </p:nvSpPr>
        <p:spPr>
          <a:xfrm>
            <a:off x="1806218" y="6373556"/>
            <a:ext cx="1503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bg1"/>
                </a:solidFill>
              </a:rPr>
              <a:t>DEMO LINK: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E2597C-7AF6-3F0C-F56E-E22FBDB330F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8467">
              <a:lnSpc>
                <a:spcPts val="2093"/>
              </a:lnSpc>
            </a:pPr>
            <a:r>
              <a:rPr lang="en-IN"/>
              <a:t>@SIH Idea submission- Template</a:t>
            </a:r>
            <a:endParaRPr lang="en-IN" spc="-13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A7C1A85-9CF4-59F1-D59C-C6B46712DB5B}"/>
                  </a:ext>
                </a:extLst>
              </p14:cNvPr>
              <p14:cNvContentPartPr/>
              <p14:nvPr/>
            </p14:nvContentPartPr>
            <p14:xfrm>
              <a:off x="-10240" y="1178800"/>
              <a:ext cx="1238220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A7C1A85-9CF4-59F1-D59C-C6B46712DB5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6240" y="1107160"/>
                <a:ext cx="12453840" cy="14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Group 75">
            <a:extLst>
              <a:ext uri="{FF2B5EF4-FFF2-40B4-BE49-F238E27FC236}">
                <a16:creationId xmlns:a16="http://schemas.microsoft.com/office/drawing/2014/main" id="{A87D9FAC-31E8-D7AD-CC08-C9822D811E47}"/>
              </a:ext>
            </a:extLst>
          </p:cNvPr>
          <p:cNvGrpSpPr/>
          <p:nvPr/>
        </p:nvGrpSpPr>
        <p:grpSpPr>
          <a:xfrm>
            <a:off x="-31655" y="1240011"/>
            <a:ext cx="3482804" cy="5110862"/>
            <a:chOff x="-31655" y="1240011"/>
            <a:chExt cx="3482804" cy="5110862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3519240-A1A4-0257-11A2-2177F5A5F02E}"/>
                </a:ext>
              </a:extLst>
            </p:cNvPr>
            <p:cNvSpPr/>
            <p:nvPr/>
          </p:nvSpPr>
          <p:spPr>
            <a:xfrm>
              <a:off x="-31655" y="1240011"/>
              <a:ext cx="3482804" cy="5110862"/>
            </a:xfrm>
            <a:custGeom>
              <a:avLst/>
              <a:gdLst>
                <a:gd name="csX0" fmla="*/ 3049200 w 3482804"/>
                <a:gd name="csY0" fmla="*/ 381253 h 5110862"/>
                <a:gd name="csX1" fmla="*/ 3482804 w 3482804"/>
                <a:gd name="csY1" fmla="*/ 894833 h 5110862"/>
                <a:gd name="csX2" fmla="*/ 3049200 w 3482804"/>
                <a:gd name="csY2" fmla="*/ 1408411 h 5110862"/>
                <a:gd name="csX3" fmla="*/ 0 w 3482804"/>
                <a:gd name="csY3" fmla="*/ 0 h 5110862"/>
                <a:gd name="csX4" fmla="*/ 3049200 w 3482804"/>
                <a:gd name="csY4" fmla="*/ 0 h 5110862"/>
                <a:gd name="csX5" fmla="*/ 3049200 w 3482804"/>
                <a:gd name="csY5" fmla="*/ 381253 h 5110862"/>
                <a:gd name="csX6" fmla="*/ 3047044 w 3482804"/>
                <a:gd name="csY6" fmla="*/ 378699 h 5110862"/>
                <a:gd name="csX7" fmla="*/ 3047044 w 3482804"/>
                <a:gd name="csY7" fmla="*/ 1410966 h 5110862"/>
                <a:gd name="csX8" fmla="*/ 3049200 w 3482804"/>
                <a:gd name="csY8" fmla="*/ 1408411 h 5110862"/>
                <a:gd name="csX9" fmla="*/ 3049200 w 3482804"/>
                <a:gd name="csY9" fmla="*/ 5110862 h 5110862"/>
                <a:gd name="csX10" fmla="*/ 0 w 3482804"/>
                <a:gd name="csY10" fmla="*/ 5110862 h 51108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482804" h="5110862">
                  <a:moveTo>
                    <a:pt x="3049200" y="381253"/>
                  </a:moveTo>
                  <a:lnTo>
                    <a:pt x="3482804" y="894833"/>
                  </a:lnTo>
                  <a:lnTo>
                    <a:pt x="3049200" y="1408411"/>
                  </a:lnTo>
                  <a:close/>
                  <a:moveTo>
                    <a:pt x="0" y="0"/>
                  </a:moveTo>
                  <a:lnTo>
                    <a:pt x="3049200" y="0"/>
                  </a:lnTo>
                  <a:lnTo>
                    <a:pt x="3049200" y="381253"/>
                  </a:lnTo>
                  <a:lnTo>
                    <a:pt x="3047044" y="378699"/>
                  </a:lnTo>
                  <a:lnTo>
                    <a:pt x="3047044" y="1410966"/>
                  </a:lnTo>
                  <a:lnTo>
                    <a:pt x="3049200" y="1408411"/>
                  </a:lnTo>
                  <a:lnTo>
                    <a:pt x="3049200" y="5110862"/>
                  </a:lnTo>
                  <a:lnTo>
                    <a:pt x="0" y="5110862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N" dirty="0"/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E437F68C-7B42-766F-D64C-4C78B9AD6A67}"/>
                </a:ext>
              </a:extLst>
            </p:cNvPr>
            <p:cNvSpPr txBox="1"/>
            <p:nvPr/>
          </p:nvSpPr>
          <p:spPr>
            <a:xfrm>
              <a:off x="373649" y="1900758"/>
              <a:ext cx="18896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u="sng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FEASIBILITY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05CE603-DC88-DD1E-4704-63108C976AAD}"/>
                </a:ext>
              </a:extLst>
            </p:cNvPr>
            <p:cNvSpPr txBox="1"/>
            <p:nvPr/>
          </p:nvSpPr>
          <p:spPr>
            <a:xfrm>
              <a:off x="68328" y="2687893"/>
              <a:ext cx="2789432" cy="351326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17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Existing technologies:</a:t>
              </a:r>
              <a:r>
                <a:rPr lang="en-IN" sz="1170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MailShield uses proven APIs, ML/NLP frameworks and open-source AI models, making the system practical to implement.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17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Working prototype:</a:t>
              </a:r>
              <a:r>
                <a:rPr lang="en-IN" sz="1170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Gmail integration, email analysis, forensic reporting and AI-based processing are already integrated into the prototype.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17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Local AI support:</a:t>
              </a:r>
              <a:r>
                <a:rPr lang="en-IN" sz="1170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The fine-tuned Qwen model can run through Ollama, allowing sensitive analysis without depending entirely on cloud AI services.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IN" sz="117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Scalable architecture:</a:t>
              </a:r>
              <a:r>
                <a:rPr lang="en-IN" sz="1170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FastAPI-based backend allows the email, audio and AI modules to be developed and improved independently.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IN" sz="117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67EE361-D648-627F-CE8D-006F8C65134C}"/>
              </a:ext>
            </a:extLst>
          </p:cNvPr>
          <p:cNvGrpSpPr/>
          <p:nvPr/>
        </p:nvGrpSpPr>
        <p:grpSpPr>
          <a:xfrm>
            <a:off x="2974370" y="1251789"/>
            <a:ext cx="3477586" cy="5110862"/>
            <a:chOff x="2974370" y="1251789"/>
            <a:chExt cx="3477586" cy="5110862"/>
          </a:xfrm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59EEB5B-5F7D-140E-42FA-3EFBF5617BD3}"/>
                </a:ext>
              </a:extLst>
            </p:cNvPr>
            <p:cNvSpPr/>
            <p:nvPr/>
          </p:nvSpPr>
          <p:spPr>
            <a:xfrm>
              <a:off x="2974370" y="1251789"/>
              <a:ext cx="3477586" cy="5110862"/>
            </a:xfrm>
            <a:custGeom>
              <a:avLst/>
              <a:gdLst>
                <a:gd name="csX0" fmla="*/ 3049200 w 3477586"/>
                <a:gd name="csY0" fmla="*/ 398609 h 5110862"/>
                <a:gd name="csX1" fmla="*/ 3477586 w 3477586"/>
                <a:gd name="csY1" fmla="*/ 906009 h 5110862"/>
                <a:gd name="csX2" fmla="*/ 3049200 w 3477586"/>
                <a:gd name="csY2" fmla="*/ 1413407 h 5110862"/>
                <a:gd name="csX3" fmla="*/ 0 w 3477586"/>
                <a:gd name="csY3" fmla="*/ 0 h 5110862"/>
                <a:gd name="csX4" fmla="*/ 3049200 w 3477586"/>
                <a:gd name="csY4" fmla="*/ 0 h 5110862"/>
                <a:gd name="csX5" fmla="*/ 3049200 w 3477586"/>
                <a:gd name="csY5" fmla="*/ 398609 h 5110862"/>
                <a:gd name="csX6" fmla="*/ 3041826 w 3477586"/>
                <a:gd name="csY6" fmla="*/ 389875 h 5110862"/>
                <a:gd name="csX7" fmla="*/ 3041826 w 3477586"/>
                <a:gd name="csY7" fmla="*/ 1422142 h 5110862"/>
                <a:gd name="csX8" fmla="*/ 3049200 w 3477586"/>
                <a:gd name="csY8" fmla="*/ 1413407 h 5110862"/>
                <a:gd name="csX9" fmla="*/ 3049200 w 3477586"/>
                <a:gd name="csY9" fmla="*/ 5110862 h 5110862"/>
                <a:gd name="csX10" fmla="*/ 0 w 3477586"/>
                <a:gd name="csY10" fmla="*/ 5110862 h 51108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3477586" h="5110862">
                  <a:moveTo>
                    <a:pt x="3049200" y="398609"/>
                  </a:moveTo>
                  <a:lnTo>
                    <a:pt x="3477586" y="906009"/>
                  </a:lnTo>
                  <a:lnTo>
                    <a:pt x="3049200" y="1413407"/>
                  </a:lnTo>
                  <a:close/>
                  <a:moveTo>
                    <a:pt x="0" y="0"/>
                  </a:moveTo>
                  <a:lnTo>
                    <a:pt x="3049200" y="0"/>
                  </a:lnTo>
                  <a:lnTo>
                    <a:pt x="3049200" y="398609"/>
                  </a:lnTo>
                  <a:lnTo>
                    <a:pt x="3041826" y="389875"/>
                  </a:lnTo>
                  <a:lnTo>
                    <a:pt x="3041826" y="1422142"/>
                  </a:lnTo>
                  <a:lnTo>
                    <a:pt x="3049200" y="1413407"/>
                  </a:lnTo>
                  <a:lnTo>
                    <a:pt x="3049200" y="5110862"/>
                  </a:lnTo>
                  <a:lnTo>
                    <a:pt x="0" y="5110862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/>
              <a:endParaRPr lang="en-IN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516A0AD-060F-CE54-A05C-8F6D65DE15F2}"/>
                </a:ext>
              </a:extLst>
            </p:cNvPr>
            <p:cNvSpPr txBox="1"/>
            <p:nvPr/>
          </p:nvSpPr>
          <p:spPr>
            <a:xfrm>
              <a:off x="3069583" y="2687893"/>
              <a:ext cx="2643005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N" sz="12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Evolving threats:</a:t>
              </a:r>
              <a:r>
                <a:rPr lang="en-IN" sz="1200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New phishing patterns, malicious links and AI-generated content can reduce detection accuracy over time.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 accuracy:</a:t>
              </a:r>
              <a:r>
                <a:rPr lang="en-IN" sz="1200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ML/NLP and deepfake models may produce false positives or miss previously unseen attacks.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Privacy:</a:t>
              </a:r>
              <a:r>
                <a:rPr lang="en-IN" sz="1200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Emails and audio may contain sensitive personal or organizational information.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b="1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Processing time:</a:t>
              </a:r>
              <a:r>
                <a:rPr lang="en-IN" sz="1200" i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Running multiple AI models can increase analysis time and computational requirements.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IN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A9FED4AC-CD88-5267-E4AE-44EEE9DB123E}"/>
              </a:ext>
            </a:extLst>
          </p:cNvPr>
          <p:cNvSpPr txBox="1"/>
          <p:nvPr/>
        </p:nvSpPr>
        <p:spPr>
          <a:xfrm>
            <a:off x="3405128" y="1900758"/>
            <a:ext cx="20419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077FCE4D-1810-D8BC-E6DE-014117873A64}"/>
              </a:ext>
            </a:extLst>
          </p:cNvPr>
          <p:cNvGrpSpPr/>
          <p:nvPr/>
        </p:nvGrpSpPr>
        <p:grpSpPr>
          <a:xfrm>
            <a:off x="6014832" y="1259679"/>
            <a:ext cx="6177168" cy="5110862"/>
            <a:chOff x="6014832" y="1259679"/>
            <a:chExt cx="6177168" cy="5110862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3675166-AB83-044D-C353-53FE7AC3D9A6}"/>
                </a:ext>
              </a:extLst>
            </p:cNvPr>
            <p:cNvSpPr/>
            <p:nvPr/>
          </p:nvSpPr>
          <p:spPr>
            <a:xfrm>
              <a:off x="9052677" y="1259679"/>
              <a:ext cx="3139323" cy="511086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BFDADD7-A314-1DBE-D5C8-696129D8F30B}"/>
                </a:ext>
              </a:extLst>
            </p:cNvPr>
            <p:cNvSpPr txBox="1"/>
            <p:nvPr/>
          </p:nvSpPr>
          <p:spPr>
            <a:xfrm>
              <a:off x="9550452" y="1902403"/>
              <a:ext cx="188967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000" b="1" u="sng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STRATEGY</a:t>
              </a:r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C9553DB3-C060-E299-9C49-1EAB47A90BFC}"/>
                </a:ext>
              </a:extLst>
            </p:cNvPr>
            <p:cNvGrpSpPr/>
            <p:nvPr/>
          </p:nvGrpSpPr>
          <p:grpSpPr>
            <a:xfrm>
              <a:off x="6014832" y="1259679"/>
              <a:ext cx="3503776" cy="5110862"/>
              <a:chOff x="6014832" y="1259679"/>
              <a:chExt cx="3503776" cy="5110862"/>
            </a:xfrm>
          </p:grpSpPr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632B6893-1378-E67C-386B-7E13EA80A9E2}"/>
                  </a:ext>
                </a:extLst>
              </p:cNvPr>
              <p:cNvSpPr/>
              <p:nvPr/>
            </p:nvSpPr>
            <p:spPr>
              <a:xfrm>
                <a:off x="6046676" y="1259679"/>
                <a:ext cx="3471932" cy="5110862"/>
              </a:xfrm>
              <a:custGeom>
                <a:avLst/>
                <a:gdLst>
                  <a:gd name="csX0" fmla="*/ 3049200 w 3471932"/>
                  <a:gd name="csY0" fmla="*/ 397416 h 5110862"/>
                  <a:gd name="csX1" fmla="*/ 3471932 w 3471932"/>
                  <a:gd name="csY1" fmla="*/ 898119 h 5110862"/>
                  <a:gd name="csX2" fmla="*/ 3049200 w 3471932"/>
                  <a:gd name="csY2" fmla="*/ 1398821 h 5110862"/>
                  <a:gd name="csX3" fmla="*/ 0 w 3471932"/>
                  <a:gd name="csY3" fmla="*/ 0 h 5110862"/>
                  <a:gd name="csX4" fmla="*/ 3049200 w 3471932"/>
                  <a:gd name="csY4" fmla="*/ 0 h 5110862"/>
                  <a:gd name="csX5" fmla="*/ 3049200 w 3471932"/>
                  <a:gd name="csY5" fmla="*/ 397416 h 5110862"/>
                  <a:gd name="csX6" fmla="*/ 3036172 w 3471932"/>
                  <a:gd name="csY6" fmla="*/ 381985 h 5110862"/>
                  <a:gd name="csX7" fmla="*/ 3036172 w 3471932"/>
                  <a:gd name="csY7" fmla="*/ 1414252 h 5110862"/>
                  <a:gd name="csX8" fmla="*/ 3049200 w 3471932"/>
                  <a:gd name="csY8" fmla="*/ 1398821 h 5110862"/>
                  <a:gd name="csX9" fmla="*/ 3049200 w 3471932"/>
                  <a:gd name="csY9" fmla="*/ 5110862 h 5110862"/>
                  <a:gd name="csX10" fmla="*/ 0 w 3471932"/>
                  <a:gd name="csY10" fmla="*/ 5110862 h 51108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</a:cxnLst>
                <a:rect l="l" t="t" r="r" b="b"/>
                <a:pathLst>
                  <a:path w="3471932" h="5110862">
                    <a:moveTo>
                      <a:pt x="3049200" y="397416"/>
                    </a:moveTo>
                    <a:lnTo>
                      <a:pt x="3471932" y="898119"/>
                    </a:lnTo>
                    <a:lnTo>
                      <a:pt x="3049200" y="1398821"/>
                    </a:lnTo>
                    <a:close/>
                    <a:moveTo>
                      <a:pt x="0" y="0"/>
                    </a:moveTo>
                    <a:lnTo>
                      <a:pt x="3049200" y="0"/>
                    </a:lnTo>
                    <a:lnTo>
                      <a:pt x="3049200" y="397416"/>
                    </a:lnTo>
                    <a:lnTo>
                      <a:pt x="3036172" y="381985"/>
                    </a:lnTo>
                    <a:lnTo>
                      <a:pt x="3036172" y="1414252"/>
                    </a:lnTo>
                    <a:lnTo>
                      <a:pt x="3049200" y="1398821"/>
                    </a:lnTo>
                    <a:lnTo>
                      <a:pt x="3049200" y="5110862"/>
                    </a:lnTo>
                    <a:lnTo>
                      <a:pt x="0" y="5110862"/>
                    </a:ln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IN" dirty="0"/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DF9631D-8AD6-6EBE-F301-81598AA63B9B}"/>
                  </a:ext>
                </a:extLst>
              </p:cNvPr>
              <p:cNvSpPr txBox="1"/>
              <p:nvPr/>
            </p:nvSpPr>
            <p:spPr>
              <a:xfrm>
                <a:off x="6451956" y="1900758"/>
                <a:ext cx="206742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000" b="1" u="sng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COMMERCIAL VIABILITY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5CF0DA3A-5D4D-0B11-C78D-6C5C8516F143}"/>
                  </a:ext>
                </a:extLst>
              </p:cNvPr>
              <p:cNvSpPr txBox="1"/>
              <p:nvPr/>
            </p:nvSpPr>
            <p:spPr>
              <a:xfrm>
                <a:off x="6014832" y="2687893"/>
                <a:ext cx="3139323" cy="3231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IN" sz="1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Growing need:</a:t>
                </a:r>
                <a:r>
                  <a:rPr lang="en-IN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Individuals, organizations and government departments increasingly need protection against phishing, social engineering and AI-generated threats.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IN" sz="1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 infrastructure requirement:</a:t>
                </a:r>
                <a:r>
                  <a:rPr lang="en-IN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platform is software-based and can be deployed on existing cloud or local infrastructure.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IN" sz="1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Multiple use cases:</a:t>
                </a:r>
                <a:r>
                  <a:rPr lang="en-IN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support individual users, enterprise security teams and digital-forensics investigations.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IN" sz="1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Future expansion:</a:t>
                </a:r>
                <a:r>
                  <a:rPr lang="en-IN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platform can be extended with threat-intelligence feeds, enterprise monitoring and additional communication-threat detection.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br>
                  <a:rPr lang="en-IN" sz="1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020A3B7-EA97-C4EB-E2AA-DC62540900F0}"/>
                </a:ext>
              </a:extLst>
            </p:cNvPr>
            <p:cNvSpPr txBox="1"/>
            <p:nvPr/>
          </p:nvSpPr>
          <p:spPr>
            <a:xfrm>
              <a:off x="9113337" y="2644034"/>
              <a:ext cx="2604501" cy="36009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Layered detection: Combine ML, NLP, email metadata, URL analysis and deepfake detection rather than relying on one model.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Continuous improvement: Retrain and evaluate models using new phishing, spam and synthetic-audio samples.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Privacy-first AI: Use local Ollama inference wherever sensitive information requires private processing.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Modular deployment: Keep email detection, audio detection, LLM analysis and forensics as independent modules so new models can be added without rebuilding the entire system.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195871" y="93844"/>
            <a:ext cx="7315200" cy="687795"/>
          </a:xfrm>
          <a:prstGeom prst="rect">
            <a:avLst/>
          </a:prstGeom>
        </p:spPr>
        <p:txBody>
          <a:bodyPr vert="horz" wrap="square" lIns="0" tIns="10583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8467">
              <a:spcBef>
                <a:spcPts val="83"/>
              </a:spcBef>
            </a:pPr>
            <a:r>
              <a:rPr spc="-7"/>
              <a:t>IMPACT</a:t>
            </a:r>
            <a:r>
              <a:rPr spc="-70"/>
              <a:t> </a:t>
            </a:r>
            <a:r>
              <a:rPr spc="83"/>
              <a:t>AND</a:t>
            </a:r>
            <a:r>
              <a:rPr spc="-67"/>
              <a:t> </a:t>
            </a:r>
            <a:r>
              <a:rPr spc="-7"/>
              <a:t>BENEFITS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D07FA7-BBE4-B298-1AD5-B6B7D5C89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902422E-EB38-1313-8534-EABCD8F6D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ABD62F-E159-A91C-CD71-23B4CD4113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15"/>
          <a:stretch>
            <a:fillRect/>
          </a:stretch>
        </p:blipFill>
        <p:spPr>
          <a:xfrm>
            <a:off x="6266692" y="1113906"/>
            <a:ext cx="5620507" cy="509896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5FC0BC4-460C-E4BD-0598-6908682637BC}"/>
              </a:ext>
            </a:extLst>
          </p:cNvPr>
          <p:cNvSpPr/>
          <p:nvPr/>
        </p:nvSpPr>
        <p:spPr>
          <a:xfrm>
            <a:off x="393291" y="1205727"/>
            <a:ext cx="5702710" cy="486683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/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</a:p>
          <a:p>
            <a:pPr algn="ctr"/>
            <a:endParaRPr lang="en-IN">
              <a:solidFill>
                <a:sysClr val="windowText" lastClr="000000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94F32FC-75C1-70C1-3971-BED22C297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09" y="69150"/>
            <a:ext cx="1281566" cy="85437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C4C9E40-03C0-1F5F-DBB1-9C239A764407}"/>
              </a:ext>
            </a:extLst>
          </p:cNvPr>
          <p:cNvSpPr txBox="1"/>
          <p:nvPr/>
        </p:nvSpPr>
        <p:spPr>
          <a:xfrm>
            <a:off x="393289" y="1283790"/>
            <a:ext cx="5604388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2400" b="1"/>
              <a:t>IMPACTS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Individuals: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Alerts/quarantines harmful emails, teaches phishing awareness.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Institutions: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Protects students/staff, enables admin monitoring.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Corporates: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Secures employee &amp; supplier communications, auto‑blocks phishing.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Government: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Safeguards official records, supports inter‑department collaboration</a:t>
            </a:r>
            <a:r>
              <a:rPr lang="en-IN"/>
              <a:t>.</a:t>
            </a:r>
          </a:p>
          <a:p>
            <a:endParaRPr lang="en-IN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4077E0-7FFE-3748-626D-92DAF2040894}"/>
              </a:ext>
            </a:extLst>
          </p:cNvPr>
          <p:cNvSpPr txBox="1"/>
          <p:nvPr/>
        </p:nvSpPr>
        <p:spPr>
          <a:xfrm>
            <a:off x="393290" y="3529505"/>
            <a:ext cx="525657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2400"/>
          </a:p>
          <a:p>
            <a:pPr algn="ctr"/>
            <a:r>
              <a:rPr lang="en-IN" sz="2400"/>
              <a:t>BENEFITS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Stops most threats before opening and reduces security team workload.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Explains why emails are dangerous and maintains reliable evidence records.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Learns &amp; improves via ML and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sharesprotection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patterns across users.</a:t>
            </a:r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EB65922A-6A72-A9A4-FE17-E5AF5BD79CED}"/>
              </a:ext>
            </a:extLst>
          </p:cNvPr>
          <p:cNvGrpSpPr/>
          <p:nvPr/>
        </p:nvGrpSpPr>
        <p:grpSpPr>
          <a:xfrm>
            <a:off x="0" y="6354760"/>
            <a:ext cx="12192000" cy="503343"/>
            <a:chOff x="0" y="9532139"/>
            <a:chExt cx="18288000" cy="755015"/>
          </a:xfrm>
        </p:grpSpPr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AFB29BE8-6440-6042-FCB0-6FB5E6F98F27}"/>
                </a:ext>
              </a:extLst>
            </p:cNvPr>
            <p:cNvSpPr/>
            <p:nvPr/>
          </p:nvSpPr>
          <p:spPr>
            <a:xfrm>
              <a:off x="0" y="9532139"/>
              <a:ext cx="18288000" cy="755015"/>
            </a:xfrm>
            <a:custGeom>
              <a:avLst/>
              <a:gdLst/>
              <a:ahLst/>
              <a:cxnLst/>
              <a:rect l="l" t="t" r="r" b="b"/>
              <a:pathLst>
                <a:path w="18288000" h="755015">
                  <a:moveTo>
                    <a:pt x="18287418" y="754860"/>
                  </a:moveTo>
                  <a:lnTo>
                    <a:pt x="0" y="754860"/>
                  </a:lnTo>
                  <a:lnTo>
                    <a:pt x="0" y="0"/>
                  </a:lnTo>
                  <a:lnTo>
                    <a:pt x="18287418" y="0"/>
                  </a:lnTo>
                  <a:lnTo>
                    <a:pt x="18287418" y="754860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5A154F25-2CDD-ACB2-89EF-D15A87940D3A}"/>
                </a:ext>
              </a:extLst>
            </p:cNvPr>
            <p:cNvSpPr/>
            <p:nvPr/>
          </p:nvSpPr>
          <p:spPr>
            <a:xfrm>
              <a:off x="4582359" y="9670805"/>
              <a:ext cx="11837036" cy="407670"/>
            </a:xfrm>
            <a:custGeom>
              <a:avLst/>
              <a:gdLst/>
              <a:ahLst/>
              <a:cxnLst/>
              <a:rect l="l" t="t" r="r" b="b"/>
              <a:pathLst>
                <a:path w="11837035" h="407670">
                  <a:moveTo>
                    <a:pt x="1743824" y="0"/>
                  </a:moveTo>
                  <a:lnTo>
                    <a:pt x="0" y="0"/>
                  </a:lnTo>
                  <a:lnTo>
                    <a:pt x="0" y="396354"/>
                  </a:lnTo>
                  <a:lnTo>
                    <a:pt x="1743824" y="396354"/>
                  </a:lnTo>
                  <a:lnTo>
                    <a:pt x="1743824" y="0"/>
                  </a:lnTo>
                  <a:close/>
                </a:path>
                <a:path w="11837035" h="407670">
                  <a:moveTo>
                    <a:pt x="6277927" y="11303"/>
                  </a:moveTo>
                  <a:lnTo>
                    <a:pt x="4534230" y="11303"/>
                  </a:lnTo>
                  <a:lnTo>
                    <a:pt x="4534230" y="407657"/>
                  </a:lnTo>
                  <a:lnTo>
                    <a:pt x="6277927" y="407657"/>
                  </a:lnTo>
                  <a:lnTo>
                    <a:pt x="6277927" y="11303"/>
                  </a:lnTo>
                  <a:close/>
                </a:path>
                <a:path w="11837035" h="407670">
                  <a:moveTo>
                    <a:pt x="11836654" y="11303"/>
                  </a:moveTo>
                  <a:lnTo>
                    <a:pt x="10092842" y="11303"/>
                  </a:lnTo>
                  <a:lnTo>
                    <a:pt x="10092842" y="407657"/>
                  </a:lnTo>
                  <a:lnTo>
                    <a:pt x="11836654" y="407657"/>
                  </a:lnTo>
                  <a:lnTo>
                    <a:pt x="11836654" y="113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6">
              <a:extLst>
                <a:ext uri="{FF2B5EF4-FFF2-40B4-BE49-F238E27FC236}">
                  <a16:creationId xmlns:a16="http://schemas.microsoft.com/office/drawing/2014/main" id="{A1358EB2-232F-1C01-3D72-F5074475D1D9}"/>
                </a:ext>
              </a:extLst>
            </p:cNvPr>
            <p:cNvSpPr/>
            <p:nvPr/>
          </p:nvSpPr>
          <p:spPr>
            <a:xfrm>
              <a:off x="4751522" y="9990603"/>
              <a:ext cx="1193165" cy="19050"/>
            </a:xfrm>
            <a:custGeom>
              <a:avLst/>
              <a:gdLst/>
              <a:ahLst/>
              <a:cxnLst/>
              <a:rect l="l" t="t" r="r" b="b"/>
              <a:pathLst>
                <a:path w="1193164" h="19050">
                  <a:moveTo>
                    <a:pt x="1193152" y="19049"/>
                  </a:moveTo>
                  <a:lnTo>
                    <a:pt x="0" y="19049"/>
                  </a:lnTo>
                  <a:lnTo>
                    <a:pt x="0" y="0"/>
                  </a:lnTo>
                  <a:lnTo>
                    <a:pt x="1193152" y="0"/>
                  </a:lnTo>
                  <a:lnTo>
                    <a:pt x="1193152" y="19049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5A1EE69-C189-4504-A59F-499710CA6171}"/>
              </a:ext>
            </a:extLst>
          </p:cNvPr>
          <p:cNvSpPr txBox="1"/>
          <p:nvPr/>
        </p:nvSpPr>
        <p:spPr>
          <a:xfrm>
            <a:off x="1806218" y="6373556"/>
            <a:ext cx="1503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>
                <a:solidFill>
                  <a:schemeClr val="bg1"/>
                </a:solidFill>
              </a:rPr>
              <a:t>DEMO LINK: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2E8304B-5E01-736B-3171-3008EB88A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26736CB-7E20-5741-9085-3E3A03A45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164A8FF-A6F4-CFDF-077F-13FE1D97B4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3604168"/>
              </p:ext>
            </p:extLst>
          </p:nvPr>
        </p:nvGraphicFramePr>
        <p:xfrm>
          <a:off x="609600" y="1190225"/>
          <a:ext cx="10972801" cy="4718719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93558">
                  <a:extLst>
                    <a:ext uri="{9D8B030D-6E8A-4147-A177-3AD203B41FA5}">
                      <a16:colId xmlns:a16="http://schemas.microsoft.com/office/drawing/2014/main" val="2895657414"/>
                    </a:ext>
                  </a:extLst>
                </a:gridCol>
                <a:gridCol w="8953566">
                  <a:extLst>
                    <a:ext uri="{9D8B030D-6E8A-4147-A177-3AD203B41FA5}">
                      <a16:colId xmlns:a16="http://schemas.microsoft.com/office/drawing/2014/main" val="1417149983"/>
                    </a:ext>
                  </a:extLst>
                </a:gridCol>
                <a:gridCol w="1425677">
                  <a:extLst>
                    <a:ext uri="{9D8B030D-6E8A-4147-A177-3AD203B41FA5}">
                      <a16:colId xmlns:a16="http://schemas.microsoft.com/office/drawing/2014/main" val="1860553691"/>
                    </a:ext>
                  </a:extLst>
                </a:gridCol>
              </a:tblGrid>
              <a:tr h="526949">
                <a:tc gridSpan="2">
                  <a:txBody>
                    <a:bodyPr/>
                    <a:lstStyle/>
                    <a:p>
                      <a:pPr algn="ctr"/>
                      <a:r>
                        <a:rPr lang="en-IN"/>
                        <a:t>REFRENCES 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LINKS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124757"/>
                  </a:ext>
                </a:extLst>
              </a:tr>
              <a:tr h="838354"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1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kern="1200">
                          <a:solidFill>
                            <a:schemeClr val="dk1"/>
                          </a:solidFill>
                          <a:effectLst/>
                        </a:rPr>
                        <a:t>“Curated Datasets and Feature Analysis for Phishing Email Detection with Machine Learning,” IEEE, 2024. 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hlinkClick r:id="rId3"/>
                        </a:rPr>
                        <a:t>CLICK HERE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68400"/>
                  </a:ext>
                </a:extLst>
              </a:tr>
              <a:tr h="838354"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2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kern="1200">
                          <a:solidFill>
                            <a:schemeClr val="dk1"/>
                          </a:solidFill>
                          <a:effectLst/>
                        </a:rPr>
                        <a:t>Business Email Compromise Phishing Detection Based on Machine Learning,” Electronics, vol. 12, no. 1, 2023. 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hlinkClick r:id="rId4"/>
                        </a:rPr>
                        <a:t>CLICK HERE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213833"/>
                  </a:ext>
                </a:extLst>
              </a:tr>
              <a:tr h="838354"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3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kern="1200">
                          <a:solidFill>
                            <a:schemeClr val="dk1"/>
                          </a:solidFill>
                          <a:effectLst/>
                        </a:rPr>
                        <a:t>M. T. Banday, “Analysing E-Mail Headers for Forensic Investigation,” Journal of Digital Forensics, Security and Law. 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hlinkClick r:id="rId5"/>
                        </a:rPr>
                        <a:t>CLICK HERE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544661"/>
                  </a:ext>
                </a:extLst>
              </a:tr>
              <a:tr h="838354"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4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kern="1200">
                          <a:solidFill>
                            <a:schemeClr val="dk1"/>
                          </a:solidFill>
                          <a:effectLst/>
                        </a:rPr>
                        <a:t>Enhanced Phishing Detection Using Multimodal Data,” Expert Systems with Applications, 2025. 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hlinkClick r:id="rId6"/>
                        </a:rPr>
                        <a:t>CLICK HERE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9713337"/>
                  </a:ext>
                </a:extLst>
              </a:tr>
              <a:tr h="838354">
                <a:tc>
                  <a:txBody>
                    <a:bodyPr/>
                    <a:lstStyle/>
                    <a:p>
                      <a:pPr algn="ctr"/>
                      <a:r>
                        <a:rPr lang="en-IN" sz="2400"/>
                        <a:t>5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400" kern="1200">
                          <a:solidFill>
                            <a:schemeClr val="dk1"/>
                          </a:solidFill>
                          <a:effectLst/>
                        </a:rPr>
                        <a:t>NIST, “Guide to Integrating Forensic Techniques into Incident Response ”,Special Publication 800-86.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>
                          <a:hlinkClick r:id="rId7"/>
                        </a:rPr>
                        <a:t>CLICK HERE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41690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91B3D74-2C90-0A9C-554A-F20AE4F20C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064" y="209459"/>
            <a:ext cx="1281566" cy="854378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E8E0953-1E93-8118-9023-023F59F6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96289-555F-D672-D345-0F9704D83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DEF91B-7B31-4BF7-BB9B-1D2D6B006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77732-B5A8-B5CB-CC76-225413556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779457C-3D69-3C58-232D-E2CCA8BCB6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-109412" y="-243281"/>
            <a:ext cx="12301412" cy="7101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164C0DC-0A20-4DB9-194B-9F0E3838626F}"/>
                  </a:ext>
                </a:extLst>
              </p14:cNvPr>
              <p14:cNvContentPartPr/>
              <p14:nvPr/>
            </p14:nvContentPartPr>
            <p14:xfrm>
              <a:off x="4798262" y="6524587"/>
              <a:ext cx="387000" cy="2185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164C0DC-0A20-4DB9-194B-9F0E383862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80262" y="6506587"/>
                <a:ext cx="42264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F08B6AB-56D9-45EF-FFCB-E2934CF61AE6}"/>
                  </a:ext>
                </a:extLst>
              </p14:cNvPr>
              <p14:cNvContentPartPr/>
              <p14:nvPr/>
            </p14:nvContentPartPr>
            <p14:xfrm>
              <a:off x="4597022" y="6488947"/>
              <a:ext cx="938520" cy="1245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F08B6AB-56D9-45EF-FFCB-E2934CF61AE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79022" y="6470999"/>
                <a:ext cx="974160" cy="160097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8BD5A372-4402-7CBD-EE66-6957AABD93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4301136" y="6391043"/>
            <a:ext cx="3030842" cy="36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714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1183</Words>
  <Application>Microsoft Office PowerPoint</Application>
  <PresentationFormat>Widescreen</PresentationFormat>
  <Paragraphs>112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ＭＳ Ｐゴシック</vt:lpstr>
      <vt:lpstr>Arial</vt:lpstr>
      <vt:lpstr>Arial MT</vt:lpstr>
      <vt:lpstr>Calibri</vt:lpstr>
      <vt:lpstr>Cambria</vt:lpstr>
      <vt:lpstr>Garamond</vt:lpstr>
      <vt:lpstr>Times New Roman</vt:lpstr>
      <vt:lpstr>TradeGothic</vt:lpstr>
      <vt:lpstr>Office Theme</vt:lpstr>
      <vt:lpstr>SMART INDIA HACKATHON 2026</vt:lpstr>
      <vt:lpstr>MailShield: AI-Powered Email Threat Detection, GeoLocation and Forensic Intelligence Platform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HARIHARAN KS</cp:lastModifiedBy>
  <cp:revision>5</cp:revision>
  <dcterms:created xsi:type="dcterms:W3CDTF">2013-12-12T18:46:50Z</dcterms:created>
  <dcterms:modified xsi:type="dcterms:W3CDTF">2026-09-20T15:48:24Z</dcterms:modified>
  <cp:category/>
</cp:coreProperties>
</file>